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1800">
                <a:latin typeface="Calibri"/>
              </a:defRPr>
            </a:pPr>
            <a:r>
              <a:t>Обращения, поступившие в кабинет ОАТИ на портале «Наш город», по которым жители жаловались, что их проблема не была устранена и наличие проблемы подтвердилось в результате перепроверки ОАТИ</a:t>
            </a:r>
          </a:p>
          <a:p>
            <a:pPr algn="ctr">
              <a:defRPr sz="1800" b="1">
                <a:latin typeface="Calibri"/>
              </a:defRPr>
            </a:pPr>
            <a:r>
              <a:t>период с 31 августа 2026 года по 6 сентября 2026 года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1300" b="1">
                <a:solidFill>
                  <a:srgbClr val="FF0000"/>
                </a:solidFill>
                <a:latin typeface="Calibri"/>
              </a:defRPr>
            </a:pPr>
            <a:r>
              <a:t>*Всего опровергнуто за указанный период: 178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914400"/>
            <a:ext cx="3200400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200" b="1">
                <a:solidFill>
                  <a:srgbClr val="FF0000"/>
                </a:solidFill>
                <a:latin typeface="Calibri"/>
              </a:defRPr>
            </a:pPr>
            <a:r>
              <a:t>Топ опровергаемых тем:</a:t>
            </a:r>
            <a:br/>
            <a:r>
              <a:t>Некачественное содержание детской площадки во дворе - 26</a:t>
            </a:r>
            <a:br/>
            <a:r>
              <a:t>Некачественное содержание спортивной площадки во дворе - 18</a:t>
            </a:r>
            <a:br/>
            <a:r>
              <a:t>Неубранная дворовая территория - 17</a:t>
            </a:r>
          </a:p>
        </p:txBody>
      </p:sp>
      <p:pic>
        <p:nvPicPr>
          <p:cNvPr id="6" name="Picture 5" descr="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40080" y="457200"/>
            <a:ext cx="13716000" cy="5943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 rot="7920000">
            <a:off x="1664208" y="5623560"/>
            <a:ext cx="1664208" cy="274320"/>
          </a:xfrm>
          <a:prstGeom prst="roundRect">
            <a:avLst/>
          </a:prstGeom>
          <a:noFill/>
          <a:ln w="18288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 rot="7920000">
            <a:off x="4297680" y="5394960"/>
            <a:ext cx="1005840" cy="246888"/>
          </a:xfrm>
          <a:prstGeom prst="roundRect">
            <a:avLst/>
          </a:prstGeom>
          <a:noFill/>
          <a:ln w="18288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 rot="7920000">
            <a:off x="8988552" y="5404104"/>
            <a:ext cx="1005840" cy="246888"/>
          </a:xfrm>
          <a:prstGeom prst="roundRect">
            <a:avLst/>
          </a:prstGeom>
          <a:noFill/>
          <a:ln w="18288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