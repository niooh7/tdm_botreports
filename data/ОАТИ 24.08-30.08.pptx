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latin typeface="Calibri"/>
              </a:defRPr>
            </a:pPr>
            <a:r>
              <a:t>Обращения, поступившие в кабинет ОАТИ на портале «Наш город», по которым жители жаловались, что их проблема не была устранена и наличие проблемы подтвердилось в результате перепроверки ОАТИ</a:t>
            </a:r>
          </a:p>
          <a:p>
            <a:pPr algn="ctr">
              <a:defRPr sz="1800" b="1">
                <a:latin typeface="Calibri"/>
              </a:defRPr>
            </a:pPr>
            <a:r>
              <a:t>период с 24 августа 2026 года по 30 августа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300" b="1">
                <a:solidFill>
                  <a:srgbClr val="FF0000"/>
                </a:solidFill>
                <a:latin typeface="Calibri"/>
              </a:defRPr>
            </a:pPr>
            <a:r>
              <a:t>*Всего опровергнуто за указанный период: 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914400"/>
            <a:ext cx="32004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1">
                <a:solidFill>
                  <a:srgbClr val="FF0000"/>
                </a:solidFill>
                <a:latin typeface="Calibri"/>
              </a:defRPr>
            </a:pPr>
            <a:r>
              <a:t>Топ опровергаемых тем:</a:t>
            </a:r>
            <a:br/>
            <a:r>
              <a:t>Неубранная дворовая территория - 27</a:t>
            </a:r>
            <a:br/>
            <a:r>
              <a:t>Некачественное содержание детской площадки во дворе - 23</a:t>
            </a:r>
            <a:br/>
            <a:r>
              <a:t>Некачественное содержание спортивной площадки во дворе - 12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457200"/>
            <a:ext cx="137160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7920000">
            <a:off x="4297680" y="5394960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920000">
            <a:off x="8202168" y="5422392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7920000">
            <a:off x="8988552" y="5404104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